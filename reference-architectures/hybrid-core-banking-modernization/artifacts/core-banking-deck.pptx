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32" autoAdjust="0"/>
    <p:restoredTop sz="94660"/>
  </p:normalViewPr>
  <p:slideViewPr>
    <p:cSldViewPr snapToGrid="0">
      <p:cViewPr varScale="1">
        <p:scale>
          <a:sx n="78" d="100"/>
          <a:sy n="78" d="100"/>
        </p:scale>
        <p:origin x="78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8A4C25-1948-4477-A4D7-F8F07B133D27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26C56D-4879-4048-BD49-FC5A3E9D3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2579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6C56D-4879-4048-BD49-FC5A3E9D3A5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1227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542E0-13D3-4E30-9FD2-E68A2A0A02D3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8C007-2E1A-497A-8F8D-19FBDFCFD166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0645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542E0-13D3-4E30-9FD2-E68A2A0A02D3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8C007-2E1A-497A-8F8D-19FBDFCFD1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1157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542E0-13D3-4E30-9FD2-E68A2A0A02D3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8C007-2E1A-497A-8F8D-19FBDFCFD166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590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542E0-13D3-4E30-9FD2-E68A2A0A02D3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8C007-2E1A-497A-8F8D-19FBDFCFD1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806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542E0-13D3-4E30-9FD2-E68A2A0A02D3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8C007-2E1A-497A-8F8D-19FBDFCFD1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8383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542E0-13D3-4E30-9FD2-E68A2A0A02D3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8C007-2E1A-497A-8F8D-19FBDFCFD1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287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542E0-13D3-4E30-9FD2-E68A2A0A02D3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8C007-2E1A-497A-8F8D-19FBDFCFD1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465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2D542E0-13D3-4E30-9FD2-E68A2A0A02D3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5E8C007-2E1A-497A-8F8D-19FBDFCFD1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5293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542E0-13D3-4E30-9FD2-E68A2A0A02D3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8C007-2E1A-497A-8F8D-19FBDFCFD1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7835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542E0-13D3-4E30-9FD2-E68A2A0A02D3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8C007-2E1A-497A-8F8D-19FBDFCFD1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6317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542E0-13D3-4E30-9FD2-E68A2A0A02D3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8C007-2E1A-497A-8F8D-19FBDFCFD1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259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2D542E0-13D3-4E30-9FD2-E68A2A0A02D3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5E8C007-2E1A-497A-8F8D-19FBDFCFD166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5626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D6D4299-86E7-1FA3-6AC5-F7E6A016D8E0}"/>
              </a:ext>
            </a:extLst>
          </p:cNvPr>
          <p:cNvSpPr txBox="1"/>
          <p:nvPr/>
        </p:nvSpPr>
        <p:spPr>
          <a:xfrm>
            <a:off x="344129" y="167148"/>
            <a:ext cx="11661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Hybrid Core Banking Modernization: Asynchronous Core Ledger Synchronizer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EC0932-4233-C189-9C82-E7A0F640293E}"/>
              </a:ext>
            </a:extLst>
          </p:cNvPr>
          <p:cNvSpPr txBox="1"/>
          <p:nvPr/>
        </p:nvSpPr>
        <p:spPr>
          <a:xfrm>
            <a:off x="344129" y="831448"/>
            <a:ext cx="1150374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sz="1600" dirty="0">
                <a:latin typeface="Google Sans"/>
              </a:rPr>
              <a:t>This reference architecture demonstrates a highly available, secure, and scalable </a:t>
            </a:r>
            <a:r>
              <a:rPr lang="en-IN" sz="1600" b="1" dirty="0">
                <a:latin typeface="Google Sans"/>
              </a:rPr>
              <a:t>digital banking platform</a:t>
            </a:r>
            <a:r>
              <a:rPr lang="en-IN" sz="1600" dirty="0">
                <a:latin typeface="Google Sans"/>
              </a:rPr>
              <a:t> built on AWS. The solution enables payment processing, customer onboarding, account management, balance inquiries, and notification services using cloud-native microservices while securely integrating with on-premises core banking systems.</a:t>
            </a:r>
          </a:p>
          <a:p>
            <a:pPr algn="just">
              <a:buNone/>
            </a:pPr>
            <a:r>
              <a:rPr lang="en-IN" sz="1600" dirty="0">
                <a:latin typeface="Google Sans"/>
              </a:rPr>
              <a:t>Designed using modern AWS architectural best practices, the platform combines Kubernetes, event-driven messaging, managed databases, and hybrid networking to support enterprise-grade financial workloads with high resiliency, security, and operational excellence.</a:t>
            </a:r>
          </a:p>
        </p:txBody>
      </p:sp>
    </p:spTree>
    <p:extLst>
      <p:ext uri="{BB962C8B-B14F-4D97-AF65-F5344CB8AC3E}">
        <p14:creationId xmlns:p14="http://schemas.microsoft.com/office/powerpoint/2010/main" val="1459334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C5540-B15A-4AF0-D5C6-D6A910DEA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29E5D4-40AE-1F14-31F9-748E6C6A3802}"/>
              </a:ext>
            </a:extLst>
          </p:cNvPr>
          <p:cNvSpPr txBox="1"/>
          <p:nvPr/>
        </p:nvSpPr>
        <p:spPr>
          <a:xfrm>
            <a:off x="373626" y="157316"/>
            <a:ext cx="11661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Public Ingress, Edge Security, and Gateway Routing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A8F503-B9D9-0B2A-8926-117ACD9B582B}"/>
              </a:ext>
            </a:extLst>
          </p:cNvPr>
          <p:cNvSpPr txBox="1"/>
          <p:nvPr/>
        </p:nvSpPr>
        <p:spPr>
          <a:xfrm>
            <a:off x="373626" y="671841"/>
            <a:ext cx="9851922" cy="275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600" b="1" u="none" strike="noStrike" dirty="0">
                <a:effectLst/>
                <a:latin typeface="Google Sans"/>
              </a:rPr>
              <a:t>Key Points</a:t>
            </a:r>
            <a:r>
              <a:rPr lang="en-IN" sz="1600" b="0" u="none" strike="noStrike" dirty="0">
                <a:effectLst/>
                <a:latin typeface="Google Sans"/>
              </a:rPr>
              <a:t>:</a:t>
            </a:r>
          </a:p>
          <a:p>
            <a:pPr marL="742950" marR="0" lvl="1" indent="-285750" algn="just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600" b="1" u="none" strike="noStrike" dirty="0">
                <a:effectLst/>
                <a:latin typeface="Google Sans"/>
              </a:rPr>
              <a:t>Traffic Ingress [1]</a:t>
            </a:r>
            <a:r>
              <a:rPr lang="en-IN" sz="1600" b="0" u="none" strike="noStrike" dirty="0">
                <a:effectLst/>
                <a:latin typeface="Google Sans"/>
              </a:rPr>
              <a:t>: Captures transactional requests from users, external banks, and public payment authorities.</a:t>
            </a:r>
          </a:p>
          <a:p>
            <a:pPr marL="742950" marR="0" lvl="1" indent="-285750" algn="just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600" b="1" u="none" strike="noStrike" dirty="0">
                <a:effectLst/>
                <a:latin typeface="Google Sans"/>
              </a:rPr>
              <a:t>Edge Perimeter [4]</a:t>
            </a:r>
            <a:r>
              <a:rPr lang="en-IN" sz="1600" b="0" u="none" strike="noStrike" dirty="0">
                <a:effectLst/>
                <a:latin typeface="Google Sans"/>
              </a:rPr>
              <a:t>: Screens public administrative and user entry points using </a:t>
            </a:r>
            <a:r>
              <a:rPr lang="en-IN" sz="1600" b="1" u="none" strike="noStrike" dirty="0">
                <a:effectLst/>
                <a:latin typeface="Google Sans"/>
              </a:rPr>
              <a:t>AWS WAF </a:t>
            </a:r>
            <a:r>
              <a:rPr lang="en-IN" sz="1600" b="0" u="none" strike="noStrike" dirty="0">
                <a:effectLst/>
                <a:latin typeface="Google Sans"/>
              </a:rPr>
              <a:t>to eliminate layer-7 exploits before reaching inner networks.</a:t>
            </a:r>
          </a:p>
          <a:p>
            <a:pPr marL="742950" marR="0" lvl="1" indent="-285750" algn="just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600" b="1" u="none" strike="noStrike" dirty="0">
                <a:effectLst/>
                <a:latin typeface="Google Sans"/>
              </a:rPr>
              <a:t>Serverless Routing [5]</a:t>
            </a:r>
            <a:r>
              <a:rPr lang="en-IN" sz="1600" b="0" u="none" strike="noStrike" dirty="0">
                <a:effectLst/>
                <a:latin typeface="Google Sans"/>
              </a:rPr>
              <a:t>: Directs verified payloads through an isolated </a:t>
            </a:r>
            <a:r>
              <a:rPr lang="en-IN" sz="1600" b="1" u="none" strike="noStrike" dirty="0">
                <a:effectLst/>
                <a:latin typeface="Google Sans"/>
              </a:rPr>
              <a:t>Amazon API Gateway </a:t>
            </a:r>
            <a:r>
              <a:rPr lang="en-IN" sz="1600" b="0" u="none" strike="noStrike" dirty="0">
                <a:effectLst/>
                <a:latin typeface="Google Sans"/>
              </a:rPr>
              <a:t>via secure Private </a:t>
            </a:r>
            <a:r>
              <a:rPr lang="en-IN" sz="1600" b="1" u="none" strike="noStrike" dirty="0">
                <a:effectLst/>
                <a:latin typeface="Google Sans"/>
              </a:rPr>
              <a:t>VPC Endpoints</a:t>
            </a:r>
            <a:r>
              <a:rPr lang="en-IN" sz="1600" b="0" u="none" strike="noStrike" dirty="0">
                <a:effectLst/>
                <a:latin typeface="Google Sans"/>
              </a:rPr>
              <a:t>, handing traffic off seamlessly to a serverless </a:t>
            </a:r>
            <a:r>
              <a:rPr lang="en-IN" sz="1600" b="1" u="none" strike="noStrike" dirty="0">
                <a:effectLst/>
                <a:latin typeface="Google Sans"/>
              </a:rPr>
              <a:t>AWS Lambda </a:t>
            </a:r>
            <a:r>
              <a:rPr lang="en-IN" sz="1600" b="0" u="none" strike="noStrike" dirty="0">
                <a:effectLst/>
                <a:latin typeface="Google Sans"/>
              </a:rPr>
              <a:t>validation layer and an internal </a:t>
            </a:r>
            <a:r>
              <a:rPr lang="en-IN" sz="1600" b="1" u="none" strike="noStrike" dirty="0">
                <a:effectLst/>
                <a:latin typeface="Google Sans"/>
              </a:rPr>
              <a:t>Network Load Balancer </a:t>
            </a:r>
            <a:r>
              <a:rPr lang="en-IN" sz="1600" b="0" u="none" strike="noStrike" dirty="0">
                <a:effectLst/>
                <a:latin typeface="Google Sans"/>
              </a:rPr>
              <a:t>(NLB).</a:t>
            </a:r>
          </a:p>
        </p:txBody>
      </p:sp>
    </p:spTree>
    <p:extLst>
      <p:ext uri="{BB962C8B-B14F-4D97-AF65-F5344CB8AC3E}">
        <p14:creationId xmlns:p14="http://schemas.microsoft.com/office/powerpoint/2010/main" val="652452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4DB95-0038-4FC4-846C-861D4FE68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5DB52E-EB2F-66D5-2651-2F0A376DD535}"/>
              </a:ext>
            </a:extLst>
          </p:cNvPr>
          <p:cNvSpPr txBox="1"/>
          <p:nvPr/>
        </p:nvSpPr>
        <p:spPr>
          <a:xfrm>
            <a:off x="344129" y="167148"/>
            <a:ext cx="11661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Multi-AZ Container Orchestration &amp; Dynamic Scaling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7EB33A-34B4-F139-94C5-3C1130FB9D6E}"/>
              </a:ext>
            </a:extLst>
          </p:cNvPr>
          <p:cNvSpPr txBox="1"/>
          <p:nvPr/>
        </p:nvSpPr>
        <p:spPr>
          <a:xfrm>
            <a:off x="344129" y="621210"/>
            <a:ext cx="10137058" cy="275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600" b="1" u="none" strike="noStrike" dirty="0">
                <a:effectLst/>
                <a:latin typeface="Google Sans"/>
              </a:rPr>
              <a:t>Key Points</a:t>
            </a:r>
            <a:r>
              <a:rPr lang="en-IN" sz="1600" b="0" u="none" strike="noStrike" dirty="0">
                <a:effectLst/>
                <a:latin typeface="Google Sans"/>
              </a:rPr>
              <a:t>:</a:t>
            </a:r>
          </a:p>
          <a:p>
            <a:pPr marL="742950" marR="0" lvl="1" indent="-285750" algn="just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600" b="1" u="none" strike="noStrike" dirty="0">
                <a:effectLst/>
                <a:latin typeface="Google Sans"/>
              </a:rPr>
              <a:t>Ingress Balancing [6]</a:t>
            </a:r>
            <a:r>
              <a:rPr lang="en-IN" sz="1600" b="0" u="none" strike="noStrike" dirty="0">
                <a:effectLst/>
                <a:latin typeface="Google Sans"/>
              </a:rPr>
              <a:t>: An </a:t>
            </a:r>
            <a:r>
              <a:rPr lang="en-IN" sz="1600" b="1" u="none" strike="noStrike" dirty="0">
                <a:effectLst/>
                <a:latin typeface="Google Sans"/>
              </a:rPr>
              <a:t>Application Load Balancer (ALB) </a:t>
            </a:r>
            <a:r>
              <a:rPr lang="en-IN" sz="1600" b="0" u="none" strike="noStrike" dirty="0">
                <a:effectLst/>
                <a:latin typeface="Google Sans"/>
              </a:rPr>
              <a:t>handles path-based internal routing to direct requests safely into the container perimeter.</a:t>
            </a:r>
          </a:p>
          <a:p>
            <a:pPr marL="742950" marR="0" lvl="1" indent="-285750" algn="just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600" b="1" u="none" strike="noStrike" dirty="0">
                <a:effectLst/>
                <a:latin typeface="Google Sans"/>
              </a:rPr>
              <a:t>Multi-AZ Compute [7]</a:t>
            </a:r>
            <a:r>
              <a:rPr lang="en-IN" sz="1600" b="0" u="none" strike="noStrike" dirty="0">
                <a:effectLst/>
                <a:latin typeface="Google Sans"/>
              </a:rPr>
              <a:t>: Orchestrates core business microservices—including Payment, Balance, Account, SMS, Onboarding, and Merchant engines—nested safely across isolated Availability Zones inside an </a:t>
            </a:r>
            <a:r>
              <a:rPr lang="en-IN" sz="1600" b="1" u="none" strike="noStrike" dirty="0">
                <a:effectLst/>
                <a:latin typeface="Google Sans"/>
              </a:rPr>
              <a:t>Amazon EKS </a:t>
            </a:r>
            <a:r>
              <a:rPr lang="en-IN" sz="1600" b="0" u="none" strike="noStrike" dirty="0">
                <a:effectLst/>
                <a:latin typeface="Google Sans"/>
              </a:rPr>
              <a:t>(Kubernetes) cluster.</a:t>
            </a:r>
          </a:p>
          <a:p>
            <a:pPr marL="742950" marR="0" lvl="1" indent="-285750" algn="just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600" b="1" u="none" strike="noStrike" dirty="0">
                <a:effectLst/>
                <a:latin typeface="Google Sans"/>
              </a:rPr>
              <a:t>Elastic Footprint [7][8]</a:t>
            </a:r>
            <a:r>
              <a:rPr lang="en-IN" sz="1600" b="0" u="none" strike="noStrike" dirty="0">
                <a:effectLst/>
                <a:latin typeface="Google Sans"/>
              </a:rPr>
              <a:t>: Leverages </a:t>
            </a:r>
            <a:r>
              <a:rPr lang="en-IN" sz="1600" b="1" u="none" strike="noStrike" dirty="0">
                <a:effectLst/>
                <a:latin typeface="Google Sans"/>
              </a:rPr>
              <a:t>Amazon EC2 </a:t>
            </a:r>
            <a:r>
              <a:rPr lang="en-IN" sz="1600" b="0" u="none" strike="noStrike" dirty="0">
                <a:effectLst/>
                <a:latin typeface="Google Sans"/>
              </a:rPr>
              <a:t>Auto Scaling to absorb high-throughput transaction velocity during peak banking hours, optimizing egress networks </a:t>
            </a:r>
            <a:r>
              <a:rPr lang="en-IN" sz="1600" b="1" u="none" strike="noStrike" dirty="0">
                <a:effectLst/>
                <a:latin typeface="Google Sans"/>
              </a:rPr>
              <a:t>[8]</a:t>
            </a:r>
            <a:r>
              <a:rPr lang="en-IN" sz="1600" b="0" u="none" strike="noStrike" dirty="0">
                <a:effectLst/>
                <a:latin typeface="Google Sans"/>
              </a:rPr>
              <a:t> dynamically.</a:t>
            </a:r>
          </a:p>
        </p:txBody>
      </p:sp>
    </p:spTree>
    <p:extLst>
      <p:ext uri="{BB962C8B-B14F-4D97-AF65-F5344CB8AC3E}">
        <p14:creationId xmlns:p14="http://schemas.microsoft.com/office/powerpoint/2010/main" val="1545714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B7AEE-327E-87F1-0BDC-96730EA5A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40E2A9-F0FA-E274-5031-515B7ECF35BA}"/>
              </a:ext>
            </a:extLst>
          </p:cNvPr>
          <p:cNvSpPr txBox="1"/>
          <p:nvPr/>
        </p:nvSpPr>
        <p:spPr>
          <a:xfrm>
            <a:off x="344129" y="167148"/>
            <a:ext cx="11661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Event-Driven Streaming and Backpressure Management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69E6C1-4507-55E5-67C9-555096BD12B9}"/>
              </a:ext>
            </a:extLst>
          </p:cNvPr>
          <p:cNvSpPr txBox="1"/>
          <p:nvPr/>
        </p:nvSpPr>
        <p:spPr>
          <a:xfrm>
            <a:off x="344129" y="621210"/>
            <a:ext cx="10137058" cy="2508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600" b="1" u="none" strike="noStrike" dirty="0">
                <a:effectLst/>
                <a:latin typeface="Google Sans"/>
              </a:rPr>
              <a:t>Key Points</a:t>
            </a:r>
            <a:r>
              <a:rPr lang="en-IN" sz="1600" b="0" u="none" strike="noStrike" dirty="0">
                <a:effectLst/>
                <a:latin typeface="Google Sans"/>
              </a:rPr>
              <a:t>:</a:t>
            </a:r>
          </a:p>
          <a:p>
            <a:pPr marL="742950" marR="0" lvl="1" indent="-285750" algn="just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600" b="1" dirty="0">
                <a:latin typeface="Google Sans"/>
              </a:rPr>
              <a:t>Decoupled Streams [11]</a:t>
            </a:r>
            <a:r>
              <a:rPr lang="en-IN" sz="1600" dirty="0">
                <a:latin typeface="Google Sans"/>
              </a:rPr>
              <a:t>:</a:t>
            </a:r>
            <a:r>
              <a:rPr lang="en-IN" sz="1600" b="0" u="none" strike="noStrike" dirty="0">
                <a:effectLst/>
                <a:latin typeface="Google Sans"/>
              </a:rPr>
              <a:t> </a:t>
            </a:r>
            <a:r>
              <a:rPr lang="en-IN" sz="1600" dirty="0">
                <a:latin typeface="Google Sans"/>
              </a:rPr>
              <a:t>Captures and buffers transaction logs using a high-availability </a:t>
            </a:r>
            <a:r>
              <a:rPr lang="en-IN" sz="1600" b="1" dirty="0">
                <a:latin typeface="Google Sans"/>
              </a:rPr>
              <a:t>Amazon MSK </a:t>
            </a:r>
            <a:r>
              <a:rPr lang="en-IN" sz="1600" dirty="0">
                <a:latin typeface="Google Sans"/>
              </a:rPr>
              <a:t>(Apache Kafka) cluster. This decouples immediate user actions from slow backend ledger confirmation loops.</a:t>
            </a:r>
          </a:p>
          <a:p>
            <a:pPr marL="742950" marR="0" lvl="1" indent="-285750" algn="just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600" b="1" dirty="0">
                <a:latin typeface="Google Sans"/>
              </a:rPr>
              <a:t>Event Handling</a:t>
            </a:r>
            <a:r>
              <a:rPr lang="en-IN" sz="1600" dirty="0">
                <a:latin typeface="Google Sans"/>
              </a:rPr>
              <a:t>: MSK feeds downstream events directly into the EKS processing nodes to guarantee chronological, ACID-compliant processing.</a:t>
            </a:r>
          </a:p>
          <a:p>
            <a:pPr marL="742950" marR="0" lvl="1" indent="-285750" algn="just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600" b="1" dirty="0">
                <a:latin typeface="Google Sans"/>
              </a:rPr>
              <a:t>Artifact Pipelines [15]</a:t>
            </a:r>
            <a:r>
              <a:rPr lang="en-IN" sz="1600" dirty="0">
                <a:latin typeface="Google Sans"/>
              </a:rPr>
              <a:t>: Pulls immutable container images from an isolated </a:t>
            </a:r>
            <a:r>
              <a:rPr lang="en-IN" sz="1600" b="1" dirty="0">
                <a:latin typeface="Google Sans"/>
              </a:rPr>
              <a:t>Amazon ECR</a:t>
            </a:r>
            <a:r>
              <a:rPr lang="en-IN" sz="1600" dirty="0">
                <a:latin typeface="Google Sans"/>
              </a:rPr>
              <a:t> registry, ensuring rapid pod scaling while dispatching out-of-band mobile alerts (SMS) directly to user devices.</a:t>
            </a:r>
          </a:p>
        </p:txBody>
      </p:sp>
    </p:spTree>
    <p:extLst>
      <p:ext uri="{BB962C8B-B14F-4D97-AF65-F5344CB8AC3E}">
        <p14:creationId xmlns:p14="http://schemas.microsoft.com/office/powerpoint/2010/main" val="2578430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4EC14-DD09-B351-F87C-6A8446DEB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00C90DC-A7F5-DE0D-430E-7439DBE7733B}"/>
              </a:ext>
            </a:extLst>
          </p:cNvPr>
          <p:cNvSpPr txBox="1"/>
          <p:nvPr/>
        </p:nvSpPr>
        <p:spPr>
          <a:xfrm>
            <a:off x="265471" y="251878"/>
            <a:ext cx="11661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Tiered Relational Storage and Split-Caching Topology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E8240A-656D-5AA2-6122-B29AA04C989A}"/>
              </a:ext>
            </a:extLst>
          </p:cNvPr>
          <p:cNvSpPr txBox="1"/>
          <p:nvPr/>
        </p:nvSpPr>
        <p:spPr>
          <a:xfrm>
            <a:off x="265471" y="709700"/>
            <a:ext cx="10137058" cy="2508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600" b="1" u="none" strike="noStrike" dirty="0">
                <a:effectLst/>
                <a:latin typeface="Google Sans"/>
              </a:rPr>
              <a:t>Key Points</a:t>
            </a:r>
            <a:r>
              <a:rPr lang="en-IN" sz="1600" b="0" u="none" strike="noStrike" dirty="0">
                <a:effectLst/>
                <a:latin typeface="Google Sans"/>
              </a:rPr>
              <a:t>:</a:t>
            </a:r>
          </a:p>
          <a:p>
            <a:pPr marL="742950" lvl="1" indent="-285750" algn="just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600" b="1" u="none" strike="noStrike" dirty="0">
                <a:effectLst/>
                <a:latin typeface="Google Sans"/>
              </a:rPr>
              <a:t>High-Speed Caching [10]</a:t>
            </a:r>
            <a:r>
              <a:rPr lang="en-IN" sz="1600" b="0" u="none" strike="noStrike" dirty="0">
                <a:effectLst/>
                <a:latin typeface="Google Sans"/>
              </a:rPr>
              <a:t>: Intercepts repetitive account balance and merchant queries using an </a:t>
            </a:r>
            <a:r>
              <a:rPr lang="en-IN" sz="1600" b="1" u="none" strike="noStrike" dirty="0">
                <a:effectLst/>
                <a:latin typeface="Google Sans"/>
              </a:rPr>
              <a:t>Amazon ElastiCache </a:t>
            </a:r>
            <a:r>
              <a:rPr lang="en-IN" sz="1600" b="0" u="none" strike="noStrike" dirty="0">
                <a:effectLst/>
                <a:latin typeface="Google Sans"/>
              </a:rPr>
              <a:t>(Redis) array. This shields the underlying storage engine from high-volume read stress.</a:t>
            </a:r>
          </a:p>
          <a:p>
            <a:pPr marL="742950" lvl="1" indent="-285750" algn="just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600" b="1" u="none" strike="noStrike" dirty="0">
                <a:effectLst/>
                <a:latin typeface="Google Sans"/>
              </a:rPr>
              <a:t>Relational Backbone [9]</a:t>
            </a:r>
            <a:r>
              <a:rPr lang="en-IN" sz="1600" b="0" u="none" strike="noStrike" dirty="0">
                <a:effectLst/>
                <a:latin typeface="Google Sans"/>
              </a:rPr>
              <a:t>: Relies on a highly resilient </a:t>
            </a:r>
            <a:r>
              <a:rPr lang="en-IN" sz="1600" b="1" u="none" strike="noStrike" dirty="0">
                <a:effectLst/>
                <a:latin typeface="Google Sans"/>
              </a:rPr>
              <a:t>Amazon RDS </a:t>
            </a:r>
            <a:r>
              <a:rPr lang="en-IN" sz="1600" b="0" u="none" strike="noStrike" dirty="0">
                <a:effectLst/>
                <a:latin typeface="Google Sans"/>
              </a:rPr>
              <a:t>framework. High-priority transactional writes hit the </a:t>
            </a:r>
            <a:r>
              <a:rPr lang="en-IN" sz="1600" b="1" u="none" strike="noStrike" dirty="0">
                <a:effectLst/>
                <a:latin typeface="Google Sans"/>
              </a:rPr>
              <a:t>RDS Primary</a:t>
            </a:r>
            <a:r>
              <a:rPr lang="en-IN" sz="1600" b="0" u="none" strike="noStrike" dirty="0">
                <a:effectLst/>
                <a:latin typeface="Google Sans"/>
              </a:rPr>
              <a:t> node, which replicates synchronously to an out-of-zone </a:t>
            </a:r>
            <a:r>
              <a:rPr lang="en-IN" sz="1600" b="1" u="none" strike="noStrike" dirty="0">
                <a:effectLst/>
                <a:latin typeface="Google Sans"/>
              </a:rPr>
              <a:t>RDS Standby</a:t>
            </a:r>
            <a:r>
              <a:rPr lang="en-IN" sz="1600" b="0" u="none" strike="noStrike" dirty="0">
                <a:effectLst/>
                <a:latin typeface="Google Sans"/>
              </a:rPr>
              <a:t> for disaster recovery.</a:t>
            </a:r>
          </a:p>
          <a:p>
            <a:pPr marL="742950" lvl="1" indent="-285750" algn="just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600" b="1" u="none" strike="noStrike" dirty="0">
                <a:effectLst/>
                <a:latin typeface="Google Sans"/>
              </a:rPr>
              <a:t>Read Scale-Out [9]</a:t>
            </a:r>
            <a:r>
              <a:rPr lang="en-IN" sz="1600" b="0" u="none" strike="noStrike" dirty="0">
                <a:effectLst/>
                <a:latin typeface="Google Sans"/>
              </a:rPr>
              <a:t>: Offloads analytics and non-critical query tasks to asynchronous </a:t>
            </a:r>
            <a:r>
              <a:rPr lang="en-IN" sz="1600" b="1" u="none" strike="noStrike" dirty="0">
                <a:effectLst/>
                <a:latin typeface="Google Sans"/>
              </a:rPr>
              <a:t>RDS Replica</a:t>
            </a:r>
            <a:r>
              <a:rPr lang="en-IN" sz="1600" b="0" u="none" strike="noStrike" dirty="0">
                <a:effectLst/>
                <a:latin typeface="Google Sans"/>
              </a:rPr>
              <a:t> nodes, ensuring zero performance drag on the primary transactional engine.</a:t>
            </a:r>
          </a:p>
        </p:txBody>
      </p:sp>
    </p:spTree>
    <p:extLst>
      <p:ext uri="{BB962C8B-B14F-4D97-AF65-F5344CB8AC3E}">
        <p14:creationId xmlns:p14="http://schemas.microsoft.com/office/powerpoint/2010/main" val="1760731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96487-A8AA-6BAF-22E1-2BD01F843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6E8BB3-1CE7-53F3-DEF1-E8DC1C39D2A1}"/>
              </a:ext>
            </a:extLst>
          </p:cNvPr>
          <p:cNvSpPr txBox="1"/>
          <p:nvPr/>
        </p:nvSpPr>
        <p:spPr>
          <a:xfrm>
            <a:off x="265471" y="251878"/>
            <a:ext cx="11661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Dedicated Low-Latency Network Trunking and Legacy Routing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131F60-6A82-229B-54BA-1D9380C3CD06}"/>
              </a:ext>
            </a:extLst>
          </p:cNvPr>
          <p:cNvSpPr txBox="1"/>
          <p:nvPr/>
        </p:nvSpPr>
        <p:spPr>
          <a:xfrm>
            <a:off x="265471" y="709700"/>
            <a:ext cx="10137058" cy="2508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600" b="1" dirty="0">
                <a:latin typeface="Google Sans"/>
              </a:rPr>
              <a:t>Key Points</a:t>
            </a:r>
            <a:r>
              <a:rPr lang="en-IN" sz="1600" dirty="0">
                <a:latin typeface="Google Sans"/>
              </a:rPr>
              <a:t>:</a:t>
            </a:r>
          </a:p>
          <a:p>
            <a:pPr marL="742950" lvl="1" indent="-285750" algn="just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600" b="1" u="none" strike="noStrike" dirty="0">
                <a:effectLst/>
                <a:latin typeface="Google Sans"/>
              </a:rPr>
              <a:t>Legacy Infrastructure [2]</a:t>
            </a:r>
            <a:r>
              <a:rPr lang="en-IN" sz="1600" b="0" u="none" strike="noStrike" dirty="0">
                <a:effectLst/>
                <a:latin typeface="Google Sans"/>
              </a:rPr>
              <a:t>: Maintains direct synchronicity with on-premises mainframe assets, Request Gateways, Hardware Security Modules (HSMs), and analytics engines inside the legacy bank data center.</a:t>
            </a:r>
          </a:p>
          <a:p>
            <a:pPr marL="742950" lvl="1" indent="-285750" algn="just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600" b="1" u="none" strike="noStrike" dirty="0">
                <a:effectLst/>
                <a:latin typeface="Google Sans"/>
              </a:rPr>
              <a:t>Private Hybrid Interconnect [3]</a:t>
            </a:r>
            <a:r>
              <a:rPr lang="en-IN" sz="1600" b="0" u="none" strike="noStrike" dirty="0">
                <a:effectLst/>
                <a:latin typeface="Google Sans"/>
              </a:rPr>
              <a:t>: Establishes a redundant, low-latency private virtual pipe leveraging </a:t>
            </a:r>
            <a:r>
              <a:rPr lang="en-IN" sz="1600" b="1" u="none" strike="noStrike" dirty="0">
                <a:effectLst/>
                <a:latin typeface="Google Sans"/>
              </a:rPr>
              <a:t>AWS Direct Connect.</a:t>
            </a:r>
          </a:p>
          <a:p>
            <a:pPr marL="742950" lvl="1" indent="-285750" algn="just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600" b="1" u="none" strike="noStrike" dirty="0">
                <a:effectLst/>
                <a:latin typeface="Google Sans"/>
              </a:rPr>
              <a:t>Hub-and-Spoke Governance [3][14]</a:t>
            </a:r>
            <a:r>
              <a:rPr lang="en-IN" sz="1600" b="0" u="none" strike="noStrike" dirty="0">
                <a:effectLst/>
                <a:latin typeface="Google Sans"/>
              </a:rPr>
              <a:t>: Centralizes multi-VPC and hybrid hybrid-routing topologies using an </a:t>
            </a:r>
            <a:r>
              <a:rPr lang="en-IN" sz="1600" b="1" u="none" strike="noStrike" dirty="0">
                <a:effectLst/>
                <a:latin typeface="Google Sans"/>
              </a:rPr>
              <a:t>AWS Transit Gateway</a:t>
            </a:r>
            <a:r>
              <a:rPr lang="en-IN" sz="1600" b="0" u="none" strike="noStrike" dirty="0">
                <a:effectLst/>
                <a:latin typeface="Google Sans"/>
              </a:rPr>
              <a:t>, creating a highly monitored bidirectional connection </a:t>
            </a:r>
            <a:r>
              <a:rPr lang="en-IN" sz="1600" b="1" u="none" strike="noStrike" dirty="0">
                <a:effectLst/>
                <a:latin typeface="Google Sans"/>
              </a:rPr>
              <a:t>[14]</a:t>
            </a:r>
            <a:r>
              <a:rPr lang="en-IN" sz="1600" b="0" u="none" strike="noStrike" dirty="0">
                <a:effectLst/>
                <a:latin typeface="Google Sans"/>
              </a:rPr>
              <a:t> back to core banking clusters.</a:t>
            </a:r>
          </a:p>
        </p:txBody>
      </p:sp>
    </p:spTree>
    <p:extLst>
      <p:ext uri="{BB962C8B-B14F-4D97-AF65-F5344CB8AC3E}">
        <p14:creationId xmlns:p14="http://schemas.microsoft.com/office/powerpoint/2010/main" val="3707133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84CA7-538D-66BD-300B-D1DBA93F9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FE4689-822E-A137-7104-C8AB047E004B}"/>
              </a:ext>
            </a:extLst>
          </p:cNvPr>
          <p:cNvSpPr txBox="1"/>
          <p:nvPr/>
        </p:nvSpPr>
        <p:spPr>
          <a:xfrm>
            <a:off x="265471" y="251878"/>
            <a:ext cx="11661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Identity Governance and Zero-Trust Cryptographic Controls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4C90DB-73E2-ACD6-7D86-3A96A47AA0A7}"/>
              </a:ext>
            </a:extLst>
          </p:cNvPr>
          <p:cNvSpPr txBox="1"/>
          <p:nvPr/>
        </p:nvSpPr>
        <p:spPr>
          <a:xfrm>
            <a:off x="265471" y="709700"/>
            <a:ext cx="1013705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600" b="1" dirty="0">
                <a:latin typeface="Google Sans"/>
              </a:rPr>
              <a:t>Key Points</a:t>
            </a:r>
            <a:r>
              <a:rPr lang="en-IN" sz="1600" dirty="0">
                <a:latin typeface="Google Sans"/>
              </a:rPr>
              <a:t>:</a:t>
            </a:r>
          </a:p>
          <a:p>
            <a:pPr marL="742950" lvl="1" indent="-285750" algn="just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600" b="1" u="none" strike="noStrike" dirty="0">
                <a:effectLst/>
                <a:latin typeface="Google Sans"/>
              </a:rPr>
              <a:t>Least-Privilege Isolation</a:t>
            </a:r>
            <a:r>
              <a:rPr lang="en-IN" sz="1600" b="0" u="none" strike="noStrike" dirty="0">
                <a:effectLst/>
                <a:latin typeface="Google Sans"/>
              </a:rPr>
              <a:t>: Enforces granular machine-to-machine boundaries using </a:t>
            </a:r>
            <a:r>
              <a:rPr lang="en-IN" sz="1600" b="1" u="none" strike="noStrike" dirty="0">
                <a:effectLst/>
                <a:latin typeface="Google Sans"/>
              </a:rPr>
              <a:t>AWS IAM</a:t>
            </a:r>
            <a:r>
              <a:rPr lang="en-IN" sz="1600" b="0" u="none" strike="noStrike" dirty="0">
                <a:effectLst/>
                <a:latin typeface="Google Sans"/>
              </a:rPr>
              <a:t> roles mapped directly to individual Kubernetes service accounts (IRSA).</a:t>
            </a:r>
          </a:p>
          <a:p>
            <a:pPr marL="742950" lvl="1" indent="-285750" algn="just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600" b="1" u="none" strike="noStrike" dirty="0">
                <a:effectLst/>
                <a:latin typeface="Google Sans"/>
              </a:rPr>
              <a:t>Data Protection</a:t>
            </a:r>
            <a:r>
              <a:rPr lang="en-IN" sz="1600" b="0" u="none" strike="noStrike" dirty="0">
                <a:effectLst/>
                <a:latin typeface="Google Sans"/>
              </a:rPr>
              <a:t>: Centralizes customer data protection using </a:t>
            </a:r>
            <a:r>
              <a:rPr lang="en-IN" sz="1600" b="1" u="none" strike="noStrike" dirty="0">
                <a:effectLst/>
                <a:latin typeface="Google Sans"/>
              </a:rPr>
              <a:t>AWS KMS</a:t>
            </a:r>
            <a:r>
              <a:rPr lang="en-IN" sz="1600" b="0" u="none" strike="noStrike" dirty="0">
                <a:effectLst/>
                <a:latin typeface="Google Sans"/>
              </a:rPr>
              <a:t>. This manages automatic envelope encryption lifecycles for both storage volumes and active transactional streams using Customer Managed Keys (CMK).</a:t>
            </a:r>
          </a:p>
        </p:txBody>
      </p:sp>
    </p:spTree>
    <p:extLst>
      <p:ext uri="{BB962C8B-B14F-4D97-AF65-F5344CB8AC3E}">
        <p14:creationId xmlns:p14="http://schemas.microsoft.com/office/powerpoint/2010/main" val="2971744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E96E6-356B-C270-DB3B-62F4041FC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A97713-D44C-8AD7-CE4C-FD29DF6F1C79}"/>
              </a:ext>
            </a:extLst>
          </p:cNvPr>
          <p:cNvSpPr txBox="1"/>
          <p:nvPr/>
        </p:nvSpPr>
        <p:spPr>
          <a:xfrm>
            <a:off x="265471" y="173220"/>
            <a:ext cx="11661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Real-Time Auditing, Performance Tracing, and Observability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B731F1-D7CE-2E3F-EE48-50DAFD5234F3}"/>
              </a:ext>
            </a:extLst>
          </p:cNvPr>
          <p:cNvSpPr txBox="1"/>
          <p:nvPr/>
        </p:nvSpPr>
        <p:spPr>
          <a:xfrm>
            <a:off x="265471" y="709700"/>
            <a:ext cx="10137058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b="1" dirty="0">
                <a:latin typeface="Google Sans"/>
              </a:rPr>
              <a:t>Key Points</a:t>
            </a:r>
            <a:r>
              <a:rPr lang="en-IN" sz="1600" dirty="0">
                <a:latin typeface="Google Sans"/>
              </a:rPr>
              <a:t>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IN" sz="1600" b="1" dirty="0">
              <a:latin typeface="Google Sans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600" b="1" dirty="0">
                <a:latin typeface="Google Sans"/>
              </a:rPr>
              <a:t>Telemetry Aggregation</a:t>
            </a:r>
            <a:r>
              <a:rPr lang="en-IN" sz="1600" dirty="0">
                <a:latin typeface="Google Sans"/>
              </a:rPr>
              <a:t>: Funnels structured runtime logs, network flows, and cluster health metrics continuously into </a:t>
            </a:r>
            <a:r>
              <a:rPr lang="en-IN" sz="1600" b="1" dirty="0">
                <a:latin typeface="Google Sans"/>
              </a:rPr>
              <a:t>Amazon CloudWatch.</a:t>
            </a:r>
          </a:p>
          <a:p>
            <a:pPr lvl="1" algn="just"/>
            <a:endParaRPr lang="en-IN" sz="1600" dirty="0">
              <a:latin typeface="Google Sans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600" b="1" dirty="0">
                <a:latin typeface="Google Sans"/>
              </a:rPr>
              <a:t>Log Analytics</a:t>
            </a:r>
            <a:r>
              <a:rPr lang="en-IN" sz="1600" dirty="0">
                <a:latin typeface="Google Sans"/>
              </a:rPr>
              <a:t>: Routes application log payloads directly into </a:t>
            </a:r>
            <a:r>
              <a:rPr lang="en-IN" sz="1600" b="1" dirty="0">
                <a:latin typeface="Google Sans"/>
              </a:rPr>
              <a:t>Amazon OpenSearch</a:t>
            </a:r>
            <a:r>
              <a:rPr lang="en-IN" sz="1600" dirty="0">
                <a:latin typeface="Google Sans"/>
              </a:rPr>
              <a:t> Service. This gives security response teams and operations analysts real-time visibility and immediate query capabilities over the entire distributed environment.</a:t>
            </a:r>
          </a:p>
          <a:p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431302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</TotalTime>
  <Words>714</Words>
  <Application>Microsoft Office PowerPoint</Application>
  <PresentationFormat>Widescreen</PresentationFormat>
  <Paragraphs>40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Google Sans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Amit Kulkarni</dc:creator>
  <cp:lastModifiedBy>Amit Kulkarni</cp:lastModifiedBy>
  <cp:revision>22</cp:revision>
  <dcterms:created xsi:type="dcterms:W3CDTF">2026-07-06T14:04:56Z</dcterms:created>
  <dcterms:modified xsi:type="dcterms:W3CDTF">2026-07-06T16:27:50Z</dcterms:modified>
</cp:coreProperties>
</file>